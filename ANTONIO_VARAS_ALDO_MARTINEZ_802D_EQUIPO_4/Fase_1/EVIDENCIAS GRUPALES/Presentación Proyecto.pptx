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130837c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a130837c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130837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130837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130837c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130837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130837c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a130837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130837c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130837c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130837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a130837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130837c7_5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130837c7_5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130837c7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a130837c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130837c7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130837c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130837c7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130837c7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130837c7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a130837c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130837c7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a130837c7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130837c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a130837c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130837c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a130837c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a130837c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a130837c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23.jpg"/><Relationship Id="rId13" Type="http://schemas.openxmlformats.org/officeDocument/2006/relationships/image" Target="../media/image1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5" Type="http://schemas.openxmlformats.org/officeDocument/2006/relationships/image" Target="../media/image5.png"/><Relationship Id="rId14" Type="http://schemas.openxmlformats.org/officeDocument/2006/relationships/image" Target="../media/image13.png"/><Relationship Id="rId16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72700" y="518700"/>
            <a:ext cx="2961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“Epewtufe”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466475" y="3381650"/>
            <a:ext cx="45078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Integrantes: Diego Arias, Luis Chodil,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Benjamín Piñones, Hugo Ahumada, Diego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Vasquez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Docente:Aldo Martinez</a:t>
            </a:r>
            <a:r>
              <a:rPr lang="es"/>
              <a:t> 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989400" cy="17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Índice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Introducción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Contexto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Problemática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Solución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Metodología/Plan/Roles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Mapa Tecnológico/Arquitectura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Competencias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Riesgos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Seguridad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Modelo de Negocio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Mockup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Conclusión</a:t>
            </a:r>
            <a:endParaRPr sz="170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83975" y="1768725"/>
            <a:ext cx="5520000" cy="2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/>
              <a:t>El cómic independiente vive una paradoja: mientras la producción artística alcanza niveles históricos, la visibilidad y el mecenazgo siguen limitados por plataformas fragmentadas y motores de búsqueda obsoletos.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/>
              <a:t>Este proyecto presenta un ecosistema integral que unifica lectura digital y financiamiento colectivo, potenciado por un agente de IA conversacional que conecta de forma directa, precisa e interactiva a los creadores emergentes con su audiencia ideal.</a:t>
            </a:r>
            <a:endParaRPr sz="1300"/>
          </a:p>
        </p:txBody>
      </p:sp>
      <p:pic>
        <p:nvPicPr>
          <p:cNvPr id="79" name="Google Shape;79;p15" title="present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1525" y="1707375"/>
            <a:ext cx="2507475" cy="25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311725" y="1569625"/>
            <a:ext cx="4450800" cy="1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Pese al auge creativo del cómic independiente, el sector opera fragmentado: las plataformas de crowdfunding generalistas carecen de herramientas de lectura y comunidad, mientras que los portales de webcómics invisibilizan a los autores emergentes bajo algoritmos que solo premian el contenido masivo. </a:t>
            </a:r>
            <a:endParaRPr sz="1300">
              <a:solidFill>
                <a:srgbClr val="1F1F1F"/>
              </a:solidFill>
            </a:endParaRPr>
          </a:p>
        </p:txBody>
      </p:sp>
      <p:pic>
        <p:nvPicPr>
          <p:cNvPr id="86" name="Google Shape;86;p16" title="contex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173" y="1669350"/>
            <a:ext cx="3032300" cy="30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0" y="1422675"/>
            <a:ext cx="3915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Char char="●"/>
            </a:pPr>
            <a:r>
              <a:rPr b="1" lang="es" sz="1300">
                <a:solidFill>
                  <a:srgbClr val="1F1F1F"/>
                </a:solidFill>
              </a:rPr>
              <a:t>Invisibilidad del autor:</a:t>
            </a:r>
            <a:r>
              <a:rPr lang="es" sz="1300">
                <a:solidFill>
                  <a:srgbClr val="1F1F1F"/>
                </a:solidFill>
              </a:rPr>
              <a:t> La saturación del mercado y la falta de presupuesto sepultan obras de calidad fuera de las tendencias masivas.</a:t>
            </a:r>
            <a:endParaRPr sz="13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1F1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Char char="●"/>
            </a:pPr>
            <a:r>
              <a:rPr b="1" lang="es" sz="1300">
                <a:solidFill>
                  <a:srgbClr val="1F1F1F"/>
                </a:solidFill>
              </a:rPr>
              <a:t>Búsqueda limitada:</a:t>
            </a:r>
            <a:r>
              <a:rPr lang="es" sz="1300">
                <a:solidFill>
                  <a:srgbClr val="1F1F1F"/>
                </a:solidFill>
              </a:rPr>
              <a:t> Los filtros convencionales por género no logran clasificar estilos artísticos, técnicas visuales ni tonos narrativos específicos.</a:t>
            </a:r>
            <a:endParaRPr sz="13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1F1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Char char="●"/>
            </a:pPr>
            <a:r>
              <a:rPr b="1" lang="es" sz="1300">
                <a:solidFill>
                  <a:srgbClr val="1F1F1F"/>
                </a:solidFill>
              </a:rPr>
              <a:t>Fricción mecenas-lector:</a:t>
            </a:r>
            <a:r>
              <a:rPr lang="es" sz="1300">
                <a:solidFill>
                  <a:srgbClr val="1F1F1F"/>
                </a:solidFill>
              </a:rPr>
              <a:t> La dispersión entre plataformas para leer, evaluar y financiar un proyecto reduce el apoyo económico real.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425" y="1350500"/>
            <a:ext cx="2890250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</a:t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119450" y="1522375"/>
            <a:ext cx="44979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Una plataforma web que centraliza lectura, comunidad y financiamiento colectivo mediante un agente de IA: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1F1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Char char="●"/>
            </a:pPr>
            <a:r>
              <a:rPr b="1" lang="es" sz="1300">
                <a:solidFill>
                  <a:srgbClr val="1F1F1F"/>
                </a:solidFill>
              </a:rPr>
              <a:t>Búsqueda semántica:</a:t>
            </a:r>
            <a:r>
              <a:rPr lang="es" sz="1300">
                <a:solidFill>
                  <a:srgbClr val="1F1F1F"/>
                </a:solidFill>
              </a:rPr>
              <a:t> Conecta peticiones de estilos visuales y tramas complejas con obras afines en tiempo real.</a:t>
            </a:r>
            <a:endParaRPr sz="13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1F1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Char char="●"/>
            </a:pPr>
            <a:r>
              <a:rPr b="1" lang="es" sz="1300">
                <a:solidFill>
                  <a:srgbClr val="1F1F1F"/>
                </a:solidFill>
              </a:rPr>
              <a:t>Transacciones conversacionales:</a:t>
            </a:r>
            <a:r>
              <a:rPr lang="es" sz="1300">
                <a:solidFill>
                  <a:srgbClr val="1F1F1F"/>
                </a:solidFill>
              </a:rPr>
              <a:t> Permite financiar proyectos, comprar tomos o seguir creadores directamente desde el chat.</a:t>
            </a:r>
            <a:endParaRPr sz="13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1F1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Char char="●"/>
            </a:pPr>
            <a:r>
              <a:rPr b="1" lang="es" sz="1300">
                <a:solidFill>
                  <a:srgbClr val="1F1F1F"/>
                </a:solidFill>
              </a:rPr>
              <a:t>Validación directa:</a:t>
            </a:r>
            <a:r>
              <a:rPr lang="es" sz="1300">
                <a:solidFill>
                  <a:srgbClr val="1F1F1F"/>
                </a:solidFill>
              </a:rPr>
              <a:t> </a:t>
            </a:r>
            <a:r>
              <a:rPr lang="es" sz="1300">
                <a:solidFill>
                  <a:srgbClr val="1F1F1F"/>
                </a:solidFill>
              </a:rPr>
              <a:t>Íntegra</a:t>
            </a:r>
            <a:r>
              <a:rPr lang="es" sz="1300">
                <a:solidFill>
                  <a:srgbClr val="1F1F1F"/>
                </a:solidFill>
              </a:rPr>
              <a:t> lectura de capítulos piloto y crowdfunding en un mismo flujo para asegurar decisiones de apoyo informadas.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8" title="solu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325" y="1607700"/>
            <a:ext cx="2907475" cy="29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Scrum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125700" y="2237925"/>
            <a:ext cx="6084300" cy="23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F</a:t>
            </a:r>
            <a:r>
              <a:rPr lang="es" sz="1300">
                <a:solidFill>
                  <a:srgbClr val="1F1F1F"/>
                </a:solidFill>
              </a:rPr>
              <a:t>ramework </a:t>
            </a:r>
            <a:r>
              <a:rPr lang="es" sz="1300">
                <a:solidFill>
                  <a:srgbClr val="1F1F1F"/>
                </a:solidFill>
              </a:rPr>
              <a:t>ágil</a:t>
            </a:r>
            <a:r>
              <a:rPr lang="es" sz="1300">
                <a:solidFill>
                  <a:srgbClr val="1F1F1F"/>
                </a:solidFill>
              </a:rPr>
              <a:t> con sprints de 1 semana (fase 1)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1F1F1F"/>
                </a:solidFill>
              </a:rPr>
              <a:t>Roles:</a:t>
            </a:r>
            <a:endParaRPr b="1" sz="1300">
              <a:solidFill>
                <a:srgbClr val="1F1F1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Scrum master: Diego Vasquez - 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Product owner: Luis Chodil - 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Equipo de desarrollo: Hugo Ahumada, </a:t>
            </a:r>
            <a:r>
              <a:rPr lang="es" sz="1300">
                <a:solidFill>
                  <a:srgbClr val="1F1F1F"/>
                </a:solidFill>
              </a:rPr>
              <a:t>Benjamín</a:t>
            </a:r>
            <a:r>
              <a:rPr lang="es" sz="1300">
                <a:solidFill>
                  <a:srgbClr val="1F1F1F"/>
                </a:solidFill>
              </a:rPr>
              <a:t> Piñones - 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QA: Diego Arias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1F1F1F"/>
                </a:solidFill>
              </a:rPr>
              <a:t>Reuniones </a:t>
            </a:r>
            <a:r>
              <a:rPr lang="es" sz="1300">
                <a:solidFill>
                  <a:srgbClr val="1F1F1F"/>
                </a:solidFill>
              </a:rPr>
              <a:t>diarias de 10 minutos</a:t>
            </a:r>
            <a:endParaRPr sz="1300">
              <a:solidFill>
                <a:srgbClr val="1F1F1F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125700" y="1478875"/>
            <a:ext cx="70272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F1F1F"/>
                </a:solidFill>
              </a:rPr>
              <a:t>Escogimos metodología scrum porque es </a:t>
            </a:r>
            <a:r>
              <a:rPr lang="es" sz="1300">
                <a:solidFill>
                  <a:srgbClr val="1F1F1F"/>
                </a:solidFill>
              </a:rPr>
              <a:t>ágil, iterativa e incremental, nos permite también ajustar prioridades sprint a sprint.</a:t>
            </a:r>
            <a:endParaRPr sz="1300">
              <a:solidFill>
                <a:srgbClr val="1F1F1F"/>
              </a:solidFill>
            </a:endParaRPr>
          </a:p>
        </p:txBody>
      </p:sp>
      <p:pic>
        <p:nvPicPr>
          <p:cNvPr id="108" name="Google Shape;108;p19" title="scr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375" y="1988575"/>
            <a:ext cx="2625650" cy="26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Mapa </a:t>
            </a:r>
            <a:r>
              <a:rPr lang="es"/>
              <a:t>Tecnológico</a:t>
            </a:r>
            <a:endParaRPr/>
          </a:p>
        </p:txBody>
      </p:sp>
      <p:pic>
        <p:nvPicPr>
          <p:cNvPr id="114" name="Google Shape;114;p20" title="n3m2Az0VWHFdb4ng3q9JbDrbCjar8hE7K0SV7M8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313" y="1978425"/>
            <a:ext cx="1252075" cy="7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TypeScript Logo - Colored - 512x512 - zonalogo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350" y="2843863"/>
            <a:ext cx="623700" cy="6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 title="Vite.j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1025" y="2671688"/>
            <a:ext cx="576975" cy="5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 title="Tailwind CS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7513" y="3248675"/>
            <a:ext cx="623700" cy="6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 title="Cloudflar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2688" y="3675250"/>
            <a:ext cx="793201" cy="7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Pyth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72284" y="2015900"/>
            <a:ext cx="676300" cy="6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 title="Djan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55734" y="2400913"/>
            <a:ext cx="793201" cy="7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 title="Render logo - Black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42873" y="3651838"/>
            <a:ext cx="1639183" cy="6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 title="Django RES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42868" y="2918325"/>
            <a:ext cx="862400" cy="8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title="PostgresSQL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57500" y="2116325"/>
            <a:ext cx="676300" cy="6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title="Redi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46650" y="2194813"/>
            <a:ext cx="793199" cy="7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title="LangChain Logo - Black - 698x128 - zonalogo.co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710725" y="3876550"/>
            <a:ext cx="1874701" cy="3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title="Supabase Icon - Colored - 495x512 - zonalogo.co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90850" y="2918322"/>
            <a:ext cx="623700" cy="64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title="GitHub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05100" y="3094138"/>
            <a:ext cx="676300" cy="6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</a:t>
            </a:r>
            <a:endParaRPr/>
          </a:p>
        </p:txBody>
      </p:sp>
      <p:pic>
        <p:nvPicPr>
          <p:cNvPr id="133" name="Google Shape;133;p21" title="Diagrama en bl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84800"/>
            <a:ext cx="7697577" cy="38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</a:t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260875" y="1489500"/>
            <a:ext cx="74913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/>
              <a:t>Gestión de Proyectos (Diego Vasquez)</a:t>
            </a:r>
            <a:r>
              <a:rPr lang="es" sz="1200"/>
              <a:t>: liderazgo de equipos de trabajo, negociación y gestión de stakeholders, planificación y control de proyectos con metodologías ágiles</a:t>
            </a:r>
            <a:endParaRPr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/>
              <a:t>Ciencia de Datos / ML (Hugo Ahumada, Benjamín Piñones):</a:t>
            </a:r>
            <a:r>
              <a:rPr lang="es" sz="1200"/>
              <a:t> diseño de modelos y pipelines de machine learning, aplicación de técnicas de procesamiento de lenguaje natural y sistemas de recomendación, análisis y preparación de datos</a:t>
            </a:r>
            <a:endParaRPr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/>
              <a:t>Desarrollo WEB (Hugo Ahumada, Benjamín Piñones):</a:t>
            </a:r>
            <a:r>
              <a:rPr lang="es" sz="1200"/>
              <a:t> diseño e implementación de interfaces de usuario (frontend), desarrollo de lógica de negocio y APIs en el backend, integración de bases de datos relacionales y no relacionales, y conexión de servicios externos (pasarela de pagos, API del modelo de IA) con la aplicación web. </a:t>
            </a:r>
            <a:endParaRPr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/>
              <a:t>Automatización de Pruebas / QA (Luis Chodil, Diego Arias):</a:t>
            </a:r>
            <a:r>
              <a:rPr lang="es" sz="1200"/>
              <a:t> diseño de estrategias de testing, automatización de pruebas funcionales y de regresión, aseguramiento de la calidad de software en ciclos de desarrollo ágil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Riesgos</a:t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0" y="1399200"/>
            <a:ext cx="9144000" cy="3744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273625" y="1383825"/>
            <a:ext cx="85968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 u="sng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Top riesgos críticos y acciones diferenciadas</a:t>
            </a:r>
            <a:endParaRPr sz="1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450350" y="2132925"/>
            <a:ext cx="2157300" cy="623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43</a:t>
            </a:r>
            <a:r>
              <a:rPr lang="es" sz="3000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riegos identificados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3363425" y="2132925"/>
            <a:ext cx="2157300" cy="623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980000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r>
              <a:rPr lang="es" sz="3000">
                <a:solidFill>
                  <a:srgbClr val="98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riesgos críticos</a:t>
            </a:r>
            <a:endParaRPr sz="3000">
              <a:solidFill>
                <a:srgbClr val="98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6276500" y="2132925"/>
            <a:ext cx="2157300" cy="623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B45F06"/>
                </a:solidFill>
                <a:latin typeface="Georgia"/>
                <a:ea typeface="Georgia"/>
                <a:cs typeface="Georgia"/>
                <a:sym typeface="Georgia"/>
              </a:rPr>
              <a:t>34,5%</a:t>
            </a:r>
            <a:r>
              <a:rPr lang="es" sz="3000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NPR del total</a:t>
            </a:r>
            <a:endParaRPr sz="3000"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3"/>
          <p:cNvSpPr/>
          <p:nvPr/>
        </p:nvSpPr>
        <p:spPr>
          <a:xfrm flipH="1" rot="10800000">
            <a:off x="450350" y="2087925"/>
            <a:ext cx="2157300" cy="450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3"/>
          <p:cNvSpPr/>
          <p:nvPr/>
        </p:nvSpPr>
        <p:spPr>
          <a:xfrm flipH="1" rot="10800000">
            <a:off x="3363425" y="2087925"/>
            <a:ext cx="2157300" cy="450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3"/>
          <p:cNvSpPr/>
          <p:nvPr/>
        </p:nvSpPr>
        <p:spPr>
          <a:xfrm flipH="1" rot="10800000">
            <a:off x="6276500" y="2087925"/>
            <a:ext cx="2157300" cy="450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146925" y="2959375"/>
            <a:ext cx="4764300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R12 Abandono de proyecto por el creador                               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R23 Boicot anti-IA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R07 Exceso de costos de API por uso masivo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R03 Sesgo hacia cómics populares                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R15 Pérdidas financieras por mal cálculo     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R24 Catálogo inicial escaso                             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R14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Bloqueo de fondos por procesadores    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R33 Extracción y piratería del visor web        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R34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Demandas por violación de Copyright     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4979500" y="3028500"/>
            <a:ext cx="4025700" cy="485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NPR = Gravedad x Importancia x Probabilidad x Impacto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3943775" y="2959375"/>
            <a:ext cx="996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375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375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320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320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256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256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250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240</a:t>
            </a:r>
            <a:endParaRPr b="1" sz="13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NPR 240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Seguridad</a:t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208775" y="1603050"/>
            <a:ext cx="4363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F1F1F"/>
                </a:solidFill>
              </a:rPr>
              <a:t>Privacidad y Cumplimiento.</a:t>
            </a:r>
            <a:endParaRPr b="1"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Adherencia a la Ley 19.628 (Datos Personales).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Consentimiento explícito para el perfilamiento de la IA.</a:t>
            </a:r>
            <a:endParaRPr sz="12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262100" y="2969825"/>
            <a:ext cx="4309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F1F1F"/>
                </a:solidFill>
              </a:rPr>
              <a:t>Seguridad y Control de Acceso.</a:t>
            </a:r>
            <a:endParaRPr b="1"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Políticas RLS (Row Level Security) en Supabase: Aislamiento estricto de datos por rol (Lector, Creador, IA).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Pagos tokenizados </a:t>
            </a:r>
            <a:r>
              <a:rPr lang="es" sz="1200">
                <a:solidFill>
                  <a:srgbClr val="1F1F1F"/>
                </a:solidFill>
              </a:rPr>
              <a:t>(Webpay) para evitar almacenamiento de datos financieros.</a:t>
            </a:r>
            <a:endParaRPr sz="12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4636175" y="1603050"/>
            <a:ext cx="43098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F1F1F"/>
                </a:solidFill>
              </a:rPr>
              <a:t>Ciclo de Vida del Dato:</a:t>
            </a:r>
            <a:endParaRPr b="1"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Gestión integral: desde la recolección hasta la eliminación (Garantía del "Derecho al Olvido").</a:t>
            </a:r>
            <a:endParaRPr sz="12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4636175" y="2969825"/>
            <a:ext cx="4309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F1F1F"/>
                </a:solidFill>
              </a:rPr>
              <a:t>Gobernanza de la Inteligencia Artificial:</a:t>
            </a:r>
            <a:endParaRPr b="1"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Contexto segmentado en el modelo RAG para evitar exposición de datos cruzados (Data Leakage) durante la curaduría.</a:t>
            </a:r>
            <a:endParaRPr sz="12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</a:endParaRPr>
          </a:p>
        </p:txBody>
      </p:sp>
      <p:pic>
        <p:nvPicPr>
          <p:cNvPr id="165" name="Google Shape;165;p24" title="iconsegurid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8750" y="4019925"/>
            <a:ext cx="1123575" cy="11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Clientes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311725" y="1443650"/>
            <a:ext cx="46956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F1F1F"/>
                </a:solidFill>
              </a:rPr>
              <a:t>1. lectores / fan de cómics: el lado que consume y financia </a:t>
            </a:r>
            <a:endParaRPr b="1" sz="1200">
              <a:solidFill>
                <a:srgbClr val="1F1F1F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descubridor casual: lee cómics online y busca algo nuevo que se ajuste a su gusto específico (El sistema de IA de búsqueda semántica es clave para el)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coleccionista: busca tomos físicos de calidad, interesado en el producto final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mecenas: apoya campañas de crowdfunding porque quiere ver nacer proyectos y recibir recompensas exclusivas (ediciones limitadas, arte original, menciones)</a:t>
            </a:r>
            <a:endParaRPr sz="1200">
              <a:solidFill>
                <a:srgbClr val="1F1F1F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5259850" y="1443650"/>
            <a:ext cx="35217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F1F1F"/>
                </a:solidFill>
              </a:rPr>
              <a:t>2. creadores independientes: el lado que produce y necesita visibilidad/financiamiento </a:t>
            </a:r>
            <a:endParaRPr b="1" sz="1200">
              <a:solidFill>
                <a:srgbClr val="1F1F1F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creador emergente / amateur: recién empieza, necesita visibilidad y validación antes que dinero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1F1F"/>
              </a:buClr>
              <a:buSzPts val="1200"/>
              <a:buChar char="●"/>
            </a:pPr>
            <a:r>
              <a:rPr lang="es" sz="1200">
                <a:solidFill>
                  <a:srgbClr val="1F1F1F"/>
                </a:solidFill>
              </a:rPr>
              <a:t>creador con base de fans: ya tiene algo de público (redes sociales, Webtoon, etc) y busca monetizar y financiar el siguiente proyecto</a:t>
            </a:r>
            <a:endParaRPr sz="1200">
              <a:solidFill>
                <a:srgbClr val="1F1F1F"/>
              </a:solidFill>
            </a:endParaRPr>
          </a:p>
        </p:txBody>
      </p:sp>
      <p:pic>
        <p:nvPicPr>
          <p:cNvPr id="173" name="Google Shape;173;p25" title="com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3523" y="3865248"/>
            <a:ext cx="1244000" cy="12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 title="1098536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7525" y="3865250"/>
            <a:ext cx="1244000" cy="12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313" y="401700"/>
            <a:ext cx="7777375" cy="434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183000" y="2659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Mockup</a:t>
            </a:r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50" y="889650"/>
            <a:ext cx="4073826" cy="21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000" y="889650"/>
            <a:ext cx="4517449" cy="21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8850" y="3143650"/>
            <a:ext cx="5557702" cy="193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2410500" y="1741650"/>
            <a:ext cx="43230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/>
              <a:t>Conclusión</a:t>
            </a:r>
            <a:endParaRPr sz="6000"/>
          </a:p>
        </p:txBody>
      </p:sp>
      <p:sp>
        <p:nvSpPr>
          <p:cNvPr id="193" name="Google Shape;193;p28"/>
          <p:cNvSpPr/>
          <p:nvPr/>
        </p:nvSpPr>
        <p:spPr>
          <a:xfrm>
            <a:off x="2540400" y="2820600"/>
            <a:ext cx="4063200" cy="47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3723150" y="2986350"/>
            <a:ext cx="169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FF"/>
                </a:solidFill>
                <a:latin typeface="Merriweather"/>
                <a:ea typeface="Merriweather"/>
                <a:cs typeface="Merriweather"/>
                <a:sym typeface="Merriweather"/>
              </a:rPr>
              <a:t>Epewtufe</a:t>
            </a:r>
            <a:endParaRPr sz="1500">
              <a:solidFill>
                <a:srgbClr val="00FFFF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2569650" y="4776300"/>
            <a:ext cx="40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·  Duoc UC  ·  Capstone  ·  Septiembre 2026 ·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