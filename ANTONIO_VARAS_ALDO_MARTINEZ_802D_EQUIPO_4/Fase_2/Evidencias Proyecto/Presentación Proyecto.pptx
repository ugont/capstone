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Lobster"/>
      <p:regular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obster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130837c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a130837c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130837c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130837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08c8b73d9ff4d1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08c8b73d9ff4d1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130837c7_5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a130837c7_5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130837c7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a130837c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608c8b73d9ff4d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608c8b73d9ff4d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608c8b73d9ff4d1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608c8b73d9ff4d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130837c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a130837c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8.jpg"/><Relationship Id="rId13" Type="http://schemas.openxmlformats.org/officeDocument/2006/relationships/image" Target="../media/image4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5" Type="http://schemas.openxmlformats.org/officeDocument/2006/relationships/image" Target="../media/image16.png"/><Relationship Id="rId14" Type="http://schemas.openxmlformats.org/officeDocument/2006/relationships/image" Target="../media/image9.png"/><Relationship Id="rId17" Type="http://schemas.openxmlformats.org/officeDocument/2006/relationships/image" Target="../media/image19.png"/><Relationship Id="rId16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72700" y="518700"/>
            <a:ext cx="2755800" cy="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“Epewtufe”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466475" y="3381650"/>
            <a:ext cx="45078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Integrantes: Diego Arias, Luis Chodil,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Benjamín Piñones, Hugo Ahumada, Diego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Vasquez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Docente:Aldo Martinez</a:t>
            </a:r>
            <a:r>
              <a:rPr lang="es"/>
              <a:t> </a:t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989400" cy="17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Índice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Introducción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Cambios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Mapa Tecnológico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Arquitectura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Porcentaje de proyecto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Avance del proyecto</a:t>
            </a:r>
            <a:endParaRPr sz="1700">
              <a:highlight>
                <a:srgbClr val="F8F8F8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>
                <a:highlight>
                  <a:srgbClr val="F8F8F8"/>
                </a:highlight>
              </a:rPr>
              <a:t>Conclusión</a:t>
            </a:r>
            <a:endParaRPr sz="170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83975" y="1768725"/>
            <a:ext cx="5520000" cy="2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/>
              <a:t>El cómic independiente vive una paradoja: mientras la producción artística alcanza niveles históricos, la visibilidad y el mecenazgo siguen limitados por plataformas fragmentadas y motores de búsqueda obsoletos.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/>
              <a:t>Este proyecto presenta un ecosistema integral que unifica lectura digital y financiamiento colectivo, potenciado por un agente de IA conversacional que conecta de forma directa, precisa e interactiva a los creadores emergentes con su audiencia ideal.</a:t>
            </a:r>
            <a:endParaRPr sz="1300"/>
          </a:p>
        </p:txBody>
      </p:sp>
      <p:pic>
        <p:nvPicPr>
          <p:cNvPr id="79" name="Google Shape;79;p15" title="present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1525" y="1707375"/>
            <a:ext cx="2507475" cy="25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Cambios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420500" y="1805100"/>
            <a:ext cx="7329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Originalmente 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teníamos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pensado tener un 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módulo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venta directa de comics que hemos decidido eliminar del proyecto con el objetivo de concentrar los recursos y el tiempo de desarrollo exclusivamente en los dos 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pilares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centrales: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sistema de crowdfunding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agente IA para recomendaciones a lectores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Esto nos permite un alcance 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más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realista que da como resultado un proyecto más compacto y focalizado.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Mapa Tecnológico</a:t>
            </a:r>
            <a:endParaRPr/>
          </a:p>
        </p:txBody>
      </p:sp>
      <p:pic>
        <p:nvPicPr>
          <p:cNvPr id="91" name="Google Shape;91;p17" title="n3m2Az0VWHFdb4ng3q9JbDrbCjar8hE7K0SV7M8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00" y="1725550"/>
            <a:ext cx="1252075" cy="7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TypeScript Logo - Colored - 512x512 - zonalogo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000" y="3077737"/>
            <a:ext cx="623700" cy="6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Vite.j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0963" y="1820575"/>
            <a:ext cx="576975" cy="5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Tailwind CS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4938" y="2685400"/>
            <a:ext cx="623700" cy="6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Cloudflar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9225" y="3999513"/>
            <a:ext cx="793201" cy="79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Pyth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66934" y="1665275"/>
            <a:ext cx="676300" cy="6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Djan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02759" y="1644300"/>
            <a:ext cx="793201" cy="79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 title="Render logo - Black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77623" y="4168825"/>
            <a:ext cx="1639183" cy="6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Django RES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1993" y="2796425"/>
            <a:ext cx="862400" cy="8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PostgresSQL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17450" y="1702750"/>
            <a:ext cx="676300" cy="6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 title="Redis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965375" y="2600638"/>
            <a:ext cx="793199" cy="79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 title="LangChain Logo - Black - 698x128 - zonalogo.co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616325" y="4335100"/>
            <a:ext cx="1874701" cy="34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Supabase Icon - Colored - 495x512 - zonalogo.co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022550" y="3267997"/>
            <a:ext cx="623700" cy="64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GitHub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716425" y="3615438"/>
            <a:ext cx="676300" cy="6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416963" y="3113659"/>
            <a:ext cx="623700" cy="623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Actualizada </a:t>
            </a:r>
            <a:endParaRPr/>
          </a:p>
        </p:txBody>
      </p:sp>
      <p:pic>
        <p:nvPicPr>
          <p:cNvPr id="111" name="Google Shape;111;p18" title="Arquitectura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626" y="1476250"/>
            <a:ext cx="6880748" cy="34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262150" y="4704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Porcentaje del proyecto</a:t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 rot="5415292">
            <a:off x="6448791" y="186836"/>
            <a:ext cx="1011610" cy="3882335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31394D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51500" spcFirstLastPara="1" rIns="51500" wrap="square" tIns="5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9"/>
          <p:cNvSpPr/>
          <p:nvPr/>
        </p:nvSpPr>
        <p:spPr>
          <a:xfrm rot="5413728">
            <a:off x="6506752" y="220567"/>
            <a:ext cx="901507" cy="3814537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31394D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51500" spcFirstLastPara="1" rIns="51500" wrap="square" tIns="5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/>
          <p:nvPr/>
        </p:nvSpPr>
        <p:spPr>
          <a:xfrm rot="5415709">
            <a:off x="5890296" y="917891"/>
            <a:ext cx="787808" cy="2413823"/>
          </a:xfrm>
          <a:prstGeom prst="can">
            <a:avLst>
              <a:gd fmla="val 25000" name="adj"/>
            </a:avLst>
          </a:prstGeom>
          <a:solidFill>
            <a:schemeClr val="accent5"/>
          </a:solidFill>
          <a:ln cap="flat" cmpd="sng" w="5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51500" spcFirstLastPara="1" rIns="51500" wrap="square" tIns="5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 rot="14902">
            <a:off x="5730556" y="1884236"/>
            <a:ext cx="1107310" cy="487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51500" spcFirstLastPara="1" rIns="51500" wrap="square" tIns="5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9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59,1</a:t>
            </a:r>
            <a:r>
              <a:rPr b="1" lang="es" sz="169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%</a:t>
            </a:r>
            <a:endParaRPr sz="169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000" y="1613950"/>
            <a:ext cx="4336474" cy="329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 title="Gemini_Generated_Image_cmyfqrcmyfqrcmyf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3462" y="2711629"/>
            <a:ext cx="2942269" cy="219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262150" y="4704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Avance del proyecto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128" y="1628900"/>
            <a:ext cx="4804651" cy="28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2410500" y="1741650"/>
            <a:ext cx="43230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/>
              <a:t>Conclusión</a:t>
            </a:r>
            <a:endParaRPr sz="6000"/>
          </a:p>
        </p:txBody>
      </p:sp>
      <p:sp>
        <p:nvSpPr>
          <p:cNvPr id="134" name="Google Shape;134;p21"/>
          <p:cNvSpPr/>
          <p:nvPr/>
        </p:nvSpPr>
        <p:spPr>
          <a:xfrm>
            <a:off x="2540400" y="2820600"/>
            <a:ext cx="4063200" cy="47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3723150" y="2986350"/>
            <a:ext cx="169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FFFF"/>
                </a:solidFill>
                <a:latin typeface="Merriweather"/>
                <a:ea typeface="Merriweather"/>
                <a:cs typeface="Merriweather"/>
                <a:sym typeface="Merriweather"/>
              </a:rPr>
              <a:t>Epewtufe</a:t>
            </a:r>
            <a:endParaRPr sz="1500">
              <a:solidFill>
                <a:srgbClr val="00FFFF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2569650" y="4776300"/>
            <a:ext cx="40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·  Duoc UC  ·  Capstone  ·  Septiembre 2026 ·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